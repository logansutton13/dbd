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40bee89b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40bee89b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93e484e8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93e484e8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40bee89b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40bee89b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93e484e8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93e484e8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1a9831a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1a9831a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1a9831a1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1a9831a1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1a9831a1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1a9831a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40bee89b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40bee89b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40bee89b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40bee89b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000">
                <a:solidFill>
                  <a:schemeClr val="dk1"/>
                </a:solidFill>
              </a:rPr>
              <a:t>Drone Imagery to Stitching Module</a:t>
            </a:r>
            <a:r>
              <a:rPr lang="en" sz="1000">
                <a:solidFill>
                  <a:schemeClr val="dk1"/>
                </a:solidFill>
              </a:rPr>
              <a:t>: Validates, merges, georeferences images</a:t>
            </a:r>
            <a:endParaRPr sz="10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000">
                <a:solidFill>
                  <a:schemeClr val="dk1"/>
                </a:solidFill>
              </a:rPr>
              <a:t>Stitching to Prescription Module</a:t>
            </a:r>
            <a:r>
              <a:rPr lang="en" sz="1000">
                <a:solidFill>
                  <a:schemeClr val="dk1"/>
                </a:solidFill>
              </a:rPr>
              <a:t>: Computes NDVI metric via FIELDimageR</a:t>
            </a:r>
            <a:endParaRPr sz="10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000">
                <a:solidFill>
                  <a:schemeClr val="dk1"/>
                </a:solidFill>
              </a:rPr>
              <a:t>Prescription to Path Module</a:t>
            </a:r>
            <a:r>
              <a:rPr lang="en" sz="1000">
                <a:solidFill>
                  <a:schemeClr val="dk1"/>
                </a:solidFill>
              </a:rPr>
              <a:t>: Generates coverage-efficient waypoints</a:t>
            </a:r>
            <a:endParaRPr sz="10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000">
                <a:solidFill>
                  <a:schemeClr val="dk1"/>
                </a:solidFill>
              </a:rPr>
              <a:t>Path to Robot:</a:t>
            </a:r>
            <a:r>
              <a:rPr lang="en" sz="1000">
                <a:solidFill>
                  <a:schemeClr val="dk1"/>
                </a:solidFill>
              </a:rPr>
              <a:t> Sends navigation + nozzle-rate instructions</a:t>
            </a:r>
            <a:endParaRPr sz="10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000">
                <a:solidFill>
                  <a:schemeClr val="dk1"/>
                </a:solidFill>
              </a:rPr>
              <a:t>Robot to Reporting Module:</a:t>
            </a:r>
            <a:r>
              <a:rPr lang="en" sz="1000">
                <a:solidFill>
                  <a:schemeClr val="dk1"/>
                </a:solidFill>
              </a:rPr>
              <a:t> Sends dosage, timestamps, GPS logs</a:t>
            </a:r>
            <a:endParaRPr sz="10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000">
                <a:solidFill>
                  <a:schemeClr val="dk1"/>
                </a:solidFill>
              </a:rPr>
              <a:t>Reporting to UI:</a:t>
            </a:r>
            <a:r>
              <a:rPr lang="en" sz="1000">
                <a:solidFill>
                  <a:schemeClr val="dk1"/>
                </a:solidFill>
              </a:rPr>
              <a:t> Provides summaries and performance analytics</a:t>
            </a:r>
            <a:endParaRPr sz="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db495d5b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db495d5b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dbee337e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dbee337e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dbee337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dbee337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dbee337e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dbee337e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dbee337e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dbee337e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dbee337e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dbee337e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40bee89b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40bee89b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40bee89b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40bee89b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974b9401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8974b9401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40bee89b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40bee89b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40bee89b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40bee89b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8974b9401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8974b9401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df40d071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df40d071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df40d0718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df40d071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3.jpg"/><Relationship Id="rId5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11" Type="http://schemas.openxmlformats.org/officeDocument/2006/relationships/image" Target="../media/image16.jpg"/><Relationship Id="rId10" Type="http://schemas.openxmlformats.org/officeDocument/2006/relationships/image" Target="../media/image9.jpg"/><Relationship Id="rId9" Type="http://schemas.openxmlformats.org/officeDocument/2006/relationships/image" Target="../media/image6.jp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Relationship Id="rId8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jpg"/><Relationship Id="rId10" Type="http://schemas.openxmlformats.org/officeDocument/2006/relationships/image" Target="../media/image6.jpg"/><Relationship Id="rId13" Type="http://schemas.openxmlformats.org/officeDocument/2006/relationships/image" Target="../media/image18.jpg"/><Relationship Id="rId12" Type="http://schemas.openxmlformats.org/officeDocument/2006/relationships/image" Target="../media/image10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7.jpg"/><Relationship Id="rId9" Type="http://schemas.openxmlformats.org/officeDocument/2006/relationships/image" Target="../media/image8.jp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39525"/>
            <a:ext cx="8520600" cy="76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 sz="2800">
                <a:solidFill>
                  <a:srgbClr val="1A1A1A"/>
                </a:solidFill>
              </a:rPr>
              <a:t>Drone Based Mapping and Ground Based Robotic Precision Spray System for Field Crops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00" y="1606325"/>
            <a:ext cx="3667525" cy="141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6550" y="1606325"/>
            <a:ext cx="1747800" cy="17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000175" y="3020600"/>
            <a:ext cx="58311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Client: Andrew Nelson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Team Members: Logan Sutton &amp; Gil Rezin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Date: December 3 2025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 Contribution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Logan Sutton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Backend services: FastAPI endpoints, data flow integration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NodeODM/pyODM orchestration &amp; Docker management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Path planning integration + UI-backend connectivity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Experience gained: containerized workflows, API design, stitching automation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765450" y="1152475"/>
            <a:ext cx="4197000" cy="3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Gil Rezin</a:t>
            </a:r>
            <a:endParaRPr b="1" sz="17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Field map generation, NDVI processing pipeline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DBSCAN clustering and prescription analysis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Path-planning output formatting for UI integration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Client and mentor communications for requirement validation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Experience gained: data manipulation in R, unsupervised machine learning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cxnSp>
        <p:nvCxnSpPr>
          <p:cNvPr id="66" name="Google Shape;66;p14"/>
          <p:cNvCxnSpPr/>
          <p:nvPr/>
        </p:nvCxnSpPr>
        <p:spPr>
          <a:xfrm>
            <a:off x="4572000" y="1296175"/>
            <a:ext cx="0" cy="30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Automate pesticide application using drone imagery + ground robot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Full offline pipeline: image stitching → prescription → optimal path → robot execution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Goal: Reduce labor, maximize pesticide efficiency, maintain reliability for rural deployment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System designed for 20-acre wheat field in Farmington, WA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4150" y="3323850"/>
            <a:ext cx="2582576" cy="174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925" y="3378725"/>
            <a:ext cx="2252899" cy="16341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&amp; Motivation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62300" y="1152475"/>
            <a:ext cx="4450800" cy="40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87191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35000"/>
              <a:buChar char="●"/>
            </a:pPr>
            <a:r>
              <a:rPr lang="en" sz="2000">
                <a:solidFill>
                  <a:srgbClr val="434343"/>
                </a:solidFill>
              </a:rPr>
              <a:t>Traditional pesticide spraying costly, labor-intensive, and inconsistent</a:t>
            </a:r>
            <a:endParaRPr sz="2000">
              <a:solidFill>
                <a:srgbClr val="434343"/>
              </a:solidFill>
            </a:endParaRPr>
          </a:p>
          <a:p>
            <a:pPr indent="-387191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35000"/>
              <a:buChar char="●"/>
            </a:pPr>
            <a:r>
              <a:rPr lang="en" sz="2000">
                <a:solidFill>
                  <a:srgbClr val="434343"/>
                </a:solidFill>
              </a:rPr>
              <a:t>Drone sprayers: limited by wind, low precision, small tank volume</a:t>
            </a:r>
            <a:endParaRPr sz="2000">
              <a:solidFill>
                <a:srgbClr val="434343"/>
              </a:solidFill>
            </a:endParaRPr>
          </a:p>
          <a:p>
            <a:pPr indent="-387191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35000"/>
              <a:buChar char="●"/>
            </a:pPr>
            <a:r>
              <a:rPr lang="en" sz="2000">
                <a:solidFill>
                  <a:srgbClr val="434343"/>
                </a:solidFill>
              </a:rPr>
              <a:t>Farmers want variable-rate, data-driven, autonomous spraying workflows</a:t>
            </a:r>
            <a:endParaRPr sz="2000">
              <a:solidFill>
                <a:srgbClr val="434343"/>
              </a:solidFill>
            </a:endParaRPr>
          </a:p>
          <a:p>
            <a:pPr indent="-387191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35000"/>
              <a:buChar char="●"/>
            </a:pPr>
            <a:r>
              <a:rPr lang="en" sz="2000">
                <a:solidFill>
                  <a:srgbClr val="434343"/>
                </a:solidFill>
              </a:rPr>
              <a:t>Challenge: integrate imaging, ML prescription, pathfinding, and robotics into one system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Tractor spraying wheat field (Provided by Getty Images)"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4500" y="1471750"/>
            <a:ext cx="4450801" cy="265787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icket icon vector. Isolated contour symbol illustration (Provided by Getty Images)" id="89" name="Google Shape;89;p17"/>
          <p:cNvPicPr preferRelativeResize="0"/>
          <p:nvPr/>
        </p:nvPicPr>
        <p:blipFill rotWithShape="1">
          <a:blip r:embed="rId3">
            <a:alphaModFix/>
          </a:blip>
          <a:srcRect b="19408" l="10509" r="11875" t="18995"/>
          <a:stretch/>
        </p:blipFill>
        <p:spPr>
          <a:xfrm>
            <a:off x="7608974" y="2647371"/>
            <a:ext cx="825702" cy="65521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460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Scope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8520600" cy="3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-34409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b="1" lang="en" sz="3828">
                <a:solidFill>
                  <a:srgbClr val="434343"/>
                </a:solidFill>
              </a:rPr>
              <a:t>Included</a:t>
            </a:r>
            <a:endParaRPr b="1" sz="3828">
              <a:solidFill>
                <a:srgbClr val="434343"/>
              </a:solidFill>
            </a:endParaRPr>
          </a:p>
          <a:p>
            <a:pPr indent="-34409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○"/>
            </a:pPr>
            <a:r>
              <a:rPr lang="en" sz="3828">
                <a:solidFill>
                  <a:srgbClr val="434343"/>
                </a:solidFill>
              </a:rPr>
              <a:t>Drone image upload and stitching (NodeODM)</a:t>
            </a:r>
            <a:endParaRPr sz="3828">
              <a:solidFill>
                <a:srgbClr val="434343"/>
              </a:solidFill>
            </a:endParaRPr>
          </a:p>
          <a:p>
            <a:pPr indent="-34409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○"/>
            </a:pPr>
            <a:r>
              <a:rPr lang="en" sz="3828">
                <a:solidFill>
                  <a:srgbClr val="434343"/>
                </a:solidFill>
              </a:rPr>
              <a:t>NDVI vegetation analysis (FIELDimageR)</a:t>
            </a:r>
            <a:endParaRPr sz="3828">
              <a:solidFill>
                <a:srgbClr val="434343"/>
              </a:solidFill>
            </a:endParaRPr>
          </a:p>
          <a:p>
            <a:pPr indent="-34409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○"/>
            </a:pPr>
            <a:r>
              <a:rPr lang="en" sz="3828">
                <a:solidFill>
                  <a:srgbClr val="434343"/>
                </a:solidFill>
              </a:rPr>
              <a:t>Prescription generation (ML clustering)</a:t>
            </a:r>
            <a:endParaRPr sz="3828">
              <a:solidFill>
                <a:srgbClr val="434343"/>
              </a:solidFill>
            </a:endParaRPr>
          </a:p>
          <a:p>
            <a:pPr indent="-34409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○"/>
            </a:pPr>
            <a:r>
              <a:rPr lang="en" sz="3828">
                <a:solidFill>
                  <a:srgbClr val="434343"/>
                </a:solidFill>
              </a:rPr>
              <a:t>Path planning + robot communication</a:t>
            </a:r>
            <a:endParaRPr sz="3828">
              <a:solidFill>
                <a:srgbClr val="434343"/>
              </a:solidFill>
            </a:endParaRPr>
          </a:p>
          <a:p>
            <a:pPr indent="-34409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○"/>
            </a:pPr>
            <a:r>
              <a:rPr lang="en" sz="3828">
                <a:solidFill>
                  <a:srgbClr val="434343"/>
                </a:solidFill>
              </a:rPr>
              <a:t>Visualization and logging modules</a:t>
            </a:r>
            <a:endParaRPr sz="3828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828">
              <a:solidFill>
                <a:srgbClr val="434343"/>
              </a:solidFill>
            </a:endParaRPr>
          </a:p>
          <a:p>
            <a:pPr indent="-34409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b="1" lang="en" sz="3828">
                <a:solidFill>
                  <a:srgbClr val="434343"/>
                </a:solidFill>
              </a:rPr>
              <a:t>Not Included</a:t>
            </a:r>
            <a:endParaRPr b="1" sz="3828">
              <a:solidFill>
                <a:srgbClr val="434343"/>
              </a:solidFill>
            </a:endParaRPr>
          </a:p>
          <a:p>
            <a:pPr indent="-34409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○"/>
            </a:pPr>
            <a:r>
              <a:rPr lang="en" sz="3828">
                <a:solidFill>
                  <a:srgbClr val="434343"/>
                </a:solidFill>
              </a:rPr>
              <a:t>Real-time cloud processing</a:t>
            </a:r>
            <a:endParaRPr sz="3828">
              <a:solidFill>
                <a:srgbClr val="434343"/>
              </a:solidFill>
            </a:endParaRPr>
          </a:p>
          <a:p>
            <a:pPr indent="-34409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○"/>
            </a:pPr>
            <a:r>
              <a:rPr lang="en" sz="3828">
                <a:solidFill>
                  <a:srgbClr val="434343"/>
                </a:solidFill>
              </a:rPr>
              <a:t>Onboard computing on robot</a:t>
            </a:r>
            <a:br>
              <a:rPr lang="en" sz="1100">
                <a:solidFill>
                  <a:schemeClr val="dk1"/>
                </a:solidFill>
              </a:rPr>
            </a:br>
            <a:endParaRPr/>
          </a:p>
        </p:txBody>
      </p:sp>
      <p:cxnSp>
        <p:nvCxnSpPr>
          <p:cNvPr id="92" name="Google Shape;92;p17"/>
          <p:cNvCxnSpPr/>
          <p:nvPr/>
        </p:nvCxnSpPr>
        <p:spPr>
          <a:xfrm>
            <a:off x="158100" y="3269950"/>
            <a:ext cx="882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omputer (Provided by Getty Images)"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1388" y="1231025"/>
            <a:ext cx="1000873" cy="100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rone with photo camera line icon vector illustration (Provided by Getty Images)" id="94" name="Google Shape;9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0338" y="111188"/>
            <a:ext cx="902973" cy="9029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7"/>
          <p:cNvCxnSpPr/>
          <p:nvPr/>
        </p:nvCxnSpPr>
        <p:spPr>
          <a:xfrm>
            <a:off x="8021824" y="915961"/>
            <a:ext cx="0" cy="43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7"/>
          <p:cNvCxnSpPr/>
          <p:nvPr/>
        </p:nvCxnSpPr>
        <p:spPr>
          <a:xfrm>
            <a:off x="8021824" y="2136148"/>
            <a:ext cx="0" cy="43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Backend: FastAPI (Python), PyODM, Dockerized NodeODM, R + FIELDimageR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Frontend: React, TypeScript, TailwindCSS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ML + Analysis: NDVI processing, DBSCAN clustering, reinforcement learning exploration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Robot: Farm-ng Amiga + custom path files + nozzle-level control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File System: Local structured directories for maps, logs, reports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152475"/>
            <a:ext cx="4260300" cy="3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Core Completed Functionality: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Upload &amp; validate drone imagery (FR-01)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Stitch imagery into orthophotos (FR-02)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Generate preliminary prescription maps (FR-03)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Calculate optimal spraying path (FR-04)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Multi-file upload handling (FR-11)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Map and prescription viewing (FR-08)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4809900" y="1152475"/>
            <a:ext cx="4260300" cy="3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Partially Implemented: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Manual prescription (FR-09)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Logging &amp; compliance reporting (FR-14)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Visual path preview (FR-15)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Upload prescription &amp; path to robot (FR-05, FR-06)</a:t>
            </a:r>
            <a:endParaRPr sz="1600">
              <a:solidFill>
                <a:schemeClr val="dk1"/>
              </a:solidFill>
            </a:endParaRPr>
          </a:p>
        </p:txBody>
      </p:sp>
      <p:cxnSp>
        <p:nvCxnSpPr>
          <p:cNvPr id="112" name="Google Shape;112;p19"/>
          <p:cNvCxnSpPr/>
          <p:nvPr/>
        </p:nvCxnSpPr>
        <p:spPr>
          <a:xfrm>
            <a:off x="4644675" y="1050700"/>
            <a:ext cx="0" cy="32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Non-functional Requirements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Performance: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Stitch 20-acre field &lt; 5 minutes (NFR-02)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Path calculation &lt; 2 minutes (NFR-04)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Map loading &lt; 1 minute (NFR-03)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Usability: Responsive UI (&lt;3 sec input delay) (NFR-07)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Architecture: Modular subsystem design (NFR-06)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Environment: 100% offline operation (NFR-05) </a:t>
            </a:r>
            <a:br>
              <a:rPr lang="en" sz="1700">
                <a:solidFill>
                  <a:schemeClr val="dk1"/>
                </a:solidFill>
              </a:rPr>
            </a:br>
            <a:r>
              <a:rPr lang="en" sz="1700">
                <a:solidFill>
                  <a:schemeClr val="dk1"/>
                </a:solidFill>
              </a:rPr>
              <a:t>Hardware: Designed for i7 CPU + RTX 3060 GPU (NFR-01)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stopwatch icon vector. Isolated contour symbol illustration (Provided by Getty Images)"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4750" y="334850"/>
            <a:ext cx="3267948" cy="326794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685" y="2082850"/>
            <a:ext cx="7656441" cy="286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168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 Overview</a:t>
            </a:r>
            <a:endParaRPr/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311700" y="781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Fully offline, modular architecture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Central FastAPI backend providing coordinated data flow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Major modules:</a:t>
            </a:r>
            <a:endParaRPr sz="1700"/>
          </a:p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/>
          <p:nvPr/>
        </p:nvSpPr>
        <p:spPr>
          <a:xfrm>
            <a:off x="1211325" y="2507100"/>
            <a:ext cx="4054200" cy="256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5455900" y="83525"/>
            <a:ext cx="3627900" cy="4899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600">
              <a:solidFill>
                <a:schemeClr val="dk1"/>
              </a:solidFill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1313800" y="457575"/>
            <a:ext cx="3206100" cy="1680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 txBox="1"/>
          <p:nvPr>
            <p:ph type="title"/>
          </p:nvPr>
        </p:nvSpPr>
        <p:spPr>
          <a:xfrm>
            <a:off x="0" y="-24625"/>
            <a:ext cx="457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Interactions</a:t>
            </a:r>
            <a:endParaRPr/>
          </a:p>
        </p:txBody>
      </p:sp>
      <p:pic>
        <p:nvPicPr>
          <p:cNvPr descr="drone with photo camera line icon vector illustration (Provided by Getty Images)"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88" y="653525"/>
            <a:ext cx="902973" cy="9029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22"/>
          <p:cNvCxnSpPr>
            <a:stCxn id="138" idx="3"/>
          </p:cNvCxnSpPr>
          <p:nvPr/>
        </p:nvCxnSpPr>
        <p:spPr>
          <a:xfrm>
            <a:off x="1052361" y="1105012"/>
            <a:ext cx="9429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0" name="Google Shape;1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4837" y="327025"/>
            <a:ext cx="2261925" cy="13154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22"/>
          <p:cNvCxnSpPr/>
          <p:nvPr/>
        </p:nvCxnSpPr>
        <p:spPr>
          <a:xfrm>
            <a:off x="4439311" y="1109362"/>
            <a:ext cx="130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2" name="Google Shape;14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6237" y="1953089"/>
            <a:ext cx="2719125" cy="1377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22"/>
          <p:cNvCxnSpPr>
            <a:stCxn id="142" idx="2"/>
            <a:endCxn id="144" idx="0"/>
          </p:cNvCxnSpPr>
          <p:nvPr/>
        </p:nvCxnSpPr>
        <p:spPr>
          <a:xfrm>
            <a:off x="7625800" y="3330789"/>
            <a:ext cx="0" cy="45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5" name="Google Shape;14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2953" y="548075"/>
            <a:ext cx="2308652" cy="119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/>
          <p:cNvPicPr preferRelativeResize="0"/>
          <p:nvPr/>
        </p:nvPicPr>
        <p:blipFill rotWithShape="1">
          <a:blip r:embed="rId7">
            <a:alphaModFix/>
          </a:blip>
          <a:srcRect b="10610" l="6143" r="8408" t="2847"/>
          <a:stretch/>
        </p:blipFill>
        <p:spPr>
          <a:xfrm>
            <a:off x="1313800" y="2539363"/>
            <a:ext cx="2500775" cy="250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22"/>
          <p:cNvCxnSpPr>
            <a:stCxn id="140" idx="2"/>
            <a:endCxn id="142" idx="0"/>
          </p:cNvCxnSpPr>
          <p:nvPr/>
        </p:nvCxnSpPr>
        <p:spPr>
          <a:xfrm>
            <a:off x="7625800" y="1642484"/>
            <a:ext cx="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22"/>
          <p:cNvCxnSpPr/>
          <p:nvPr/>
        </p:nvCxnSpPr>
        <p:spPr>
          <a:xfrm rot="10800000">
            <a:off x="4187350" y="4329012"/>
            <a:ext cx="288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22"/>
          <p:cNvSpPr txBox="1"/>
          <p:nvPr/>
        </p:nvSpPr>
        <p:spPr>
          <a:xfrm>
            <a:off x="1387007" y="1746238"/>
            <a:ext cx="305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Validates, merges, georeference images</a:t>
            </a:r>
            <a:endParaRPr sz="900"/>
          </a:p>
        </p:txBody>
      </p:sp>
      <p:sp>
        <p:nvSpPr>
          <p:cNvPr id="150" name="Google Shape;150;p22"/>
          <p:cNvSpPr txBox="1"/>
          <p:nvPr/>
        </p:nvSpPr>
        <p:spPr>
          <a:xfrm>
            <a:off x="1313800" y="457575"/>
            <a:ext cx="7491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Stitching Module</a:t>
            </a:r>
            <a:endParaRPr sz="700"/>
          </a:p>
        </p:txBody>
      </p:sp>
      <p:grpSp>
        <p:nvGrpSpPr>
          <p:cNvPr id="151" name="Google Shape;151;p22"/>
          <p:cNvGrpSpPr/>
          <p:nvPr/>
        </p:nvGrpSpPr>
        <p:grpSpPr>
          <a:xfrm>
            <a:off x="7132375" y="3840600"/>
            <a:ext cx="850632" cy="1087673"/>
            <a:chOff x="6303350" y="3673025"/>
            <a:chExt cx="850632" cy="1087673"/>
          </a:xfrm>
        </p:grpSpPr>
        <p:pic>
          <p:nvPicPr>
            <p:cNvPr descr="Paper sheet line icon. Document vector illustration isolated on white. List outline style design, designed for web and app. Eps 10. (Provided by Getty Images)" id="152" name="Google Shape;152;p2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303350" y="3673025"/>
              <a:ext cx="831048" cy="8310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22"/>
            <p:cNvSpPr txBox="1"/>
            <p:nvPr/>
          </p:nvSpPr>
          <p:spPr>
            <a:xfrm>
              <a:off x="6374275" y="3728625"/>
              <a:ext cx="737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.geojson</a:t>
              </a:r>
              <a:endParaRPr sz="1000">
                <a:solidFill>
                  <a:schemeClr val="dk2"/>
                </a:solidFill>
              </a:endParaRPr>
            </a:p>
          </p:txBody>
        </p:sp>
        <p:pic>
          <p:nvPicPr>
            <p:cNvPr descr="Education, geography, globe black icon (Provided by Getty Images)" id="154" name="Google Shape;154;p22"/>
            <p:cNvPicPr preferRelativeResize="0"/>
            <p:nvPr/>
          </p:nvPicPr>
          <p:blipFill rotWithShape="1">
            <a:blip r:embed="rId9">
              <a:alphaModFix/>
            </a:blip>
            <a:srcRect b="0" l="22568" r="22020" t="11166"/>
            <a:stretch/>
          </p:blipFill>
          <p:spPr>
            <a:xfrm>
              <a:off x="6796775" y="4188000"/>
              <a:ext cx="357207" cy="5726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2"/>
          <p:cNvSpPr txBox="1"/>
          <p:nvPr/>
        </p:nvSpPr>
        <p:spPr>
          <a:xfrm>
            <a:off x="5078650" y="209375"/>
            <a:ext cx="147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6" name="Google Shape;156;p22"/>
          <p:cNvSpPr txBox="1"/>
          <p:nvPr/>
        </p:nvSpPr>
        <p:spPr>
          <a:xfrm>
            <a:off x="5470300" y="327025"/>
            <a:ext cx="948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Prescription</a:t>
            </a:r>
            <a:r>
              <a:rPr b="1" lang="en" sz="1000">
                <a:solidFill>
                  <a:schemeClr val="dk1"/>
                </a:solidFill>
              </a:rPr>
              <a:t> Module</a:t>
            </a:r>
            <a:endParaRPr sz="700"/>
          </a:p>
        </p:txBody>
      </p:sp>
      <p:sp>
        <p:nvSpPr>
          <p:cNvPr id="157" name="Google Shape;157;p22"/>
          <p:cNvSpPr txBox="1"/>
          <p:nvPr/>
        </p:nvSpPr>
        <p:spPr>
          <a:xfrm>
            <a:off x="5470300" y="3330925"/>
            <a:ext cx="2155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Computes NDVI metric via FIELDimageR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8190655" y="1556500"/>
            <a:ext cx="79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900">
                <a:solidFill>
                  <a:schemeClr val="dk1"/>
                </a:solidFill>
              </a:rPr>
              <a:t>NDVI</a:t>
            </a:r>
            <a:endParaRPr i="1" sz="600"/>
          </a:p>
        </p:txBody>
      </p:sp>
      <p:sp>
        <p:nvSpPr>
          <p:cNvPr id="159" name="Google Shape;159;p22"/>
          <p:cNvSpPr txBox="1"/>
          <p:nvPr/>
        </p:nvSpPr>
        <p:spPr>
          <a:xfrm>
            <a:off x="7718500" y="3239325"/>
            <a:ext cx="122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900">
                <a:solidFill>
                  <a:schemeClr val="dk1"/>
                </a:solidFill>
              </a:rPr>
              <a:t>HDBScan clustering</a:t>
            </a:r>
            <a:endParaRPr i="1" sz="600">
              <a:solidFill>
                <a:schemeClr val="dk1"/>
              </a:solidFill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3808888" y="3392700"/>
            <a:ext cx="15687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Generates coverage-efficient waypoints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4171263" y="2549813"/>
            <a:ext cx="109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Path</a:t>
            </a:r>
            <a:r>
              <a:rPr b="1" lang="en" sz="1000">
                <a:solidFill>
                  <a:schemeClr val="dk1"/>
                </a:solidFill>
              </a:rPr>
              <a:t> Module</a:t>
            </a:r>
            <a:endParaRPr sz="700"/>
          </a:p>
        </p:txBody>
      </p:sp>
      <p:pic>
        <p:nvPicPr>
          <p:cNvPr descr="Cricket icon vector. Isolated contour symbol illustration (Provided by Getty Images)" id="162" name="Google Shape;162;p22"/>
          <p:cNvPicPr preferRelativeResize="0"/>
          <p:nvPr/>
        </p:nvPicPr>
        <p:blipFill rotWithShape="1">
          <a:blip r:embed="rId10">
            <a:alphaModFix/>
          </a:blip>
          <a:srcRect b="19408" l="10509" r="11875" t="18995"/>
          <a:stretch/>
        </p:blipFill>
        <p:spPr>
          <a:xfrm>
            <a:off x="191175" y="3531900"/>
            <a:ext cx="649887" cy="5157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22"/>
          <p:cNvCxnSpPr>
            <a:stCxn id="146" idx="1"/>
            <a:endCxn id="162" idx="3"/>
          </p:cNvCxnSpPr>
          <p:nvPr/>
        </p:nvCxnSpPr>
        <p:spPr>
          <a:xfrm rot="10800000">
            <a:off x="841000" y="3789750"/>
            <a:ext cx="4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22"/>
          <p:cNvCxnSpPr/>
          <p:nvPr/>
        </p:nvCxnSpPr>
        <p:spPr>
          <a:xfrm>
            <a:off x="565625" y="4047600"/>
            <a:ext cx="0" cy="15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document (Provided by Getty Images)" id="165" name="Google Shape;165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62750" y="1203225"/>
            <a:ext cx="189599" cy="18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/>
          <p:nvPr/>
        </p:nvSpPr>
        <p:spPr>
          <a:xfrm>
            <a:off x="1310175" y="-485175"/>
            <a:ext cx="4054200" cy="256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3"/>
          <p:cNvSpPr/>
          <p:nvPr/>
        </p:nvSpPr>
        <p:spPr>
          <a:xfrm>
            <a:off x="5554750" y="-2908750"/>
            <a:ext cx="3627900" cy="4899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600">
              <a:solidFill>
                <a:schemeClr val="dk1"/>
              </a:solidFill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1412650" y="-2534700"/>
            <a:ext cx="3206100" cy="1680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3"/>
          <p:cNvSpPr txBox="1"/>
          <p:nvPr>
            <p:ph type="title"/>
          </p:nvPr>
        </p:nvSpPr>
        <p:spPr>
          <a:xfrm>
            <a:off x="98850" y="-3016900"/>
            <a:ext cx="457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Interactions</a:t>
            </a:r>
            <a:endParaRPr/>
          </a:p>
        </p:txBody>
      </p:sp>
      <p:pic>
        <p:nvPicPr>
          <p:cNvPr descr="drone with photo camera line icon vector illustration (Provided by Getty Images)" id="175" name="Google Shape;1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38" y="-2338750"/>
            <a:ext cx="902973" cy="9029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23"/>
          <p:cNvCxnSpPr>
            <a:stCxn id="175" idx="3"/>
          </p:cNvCxnSpPr>
          <p:nvPr/>
        </p:nvCxnSpPr>
        <p:spPr>
          <a:xfrm>
            <a:off x="1151211" y="-1887263"/>
            <a:ext cx="9429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Photography camera icon, gray version (Provided by Getty Images)" id="177" name="Google Shape;17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11" y="-1737876"/>
            <a:ext cx="445373" cy="445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3687" y="-2665250"/>
            <a:ext cx="2261925" cy="13154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23"/>
          <p:cNvCxnSpPr/>
          <p:nvPr/>
        </p:nvCxnSpPr>
        <p:spPr>
          <a:xfrm>
            <a:off x="4538161" y="-1882913"/>
            <a:ext cx="130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0" name="Google Shape;180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5087" y="-1039186"/>
            <a:ext cx="2719125" cy="1377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23"/>
          <p:cNvCxnSpPr>
            <a:stCxn id="180" idx="2"/>
            <a:endCxn id="182" idx="0"/>
          </p:cNvCxnSpPr>
          <p:nvPr/>
        </p:nvCxnSpPr>
        <p:spPr>
          <a:xfrm>
            <a:off x="7724650" y="338514"/>
            <a:ext cx="0" cy="45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3" name="Google Shape;183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61803" y="-2444200"/>
            <a:ext cx="2308652" cy="119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/>
          <p:cNvPicPr preferRelativeResize="0"/>
          <p:nvPr/>
        </p:nvPicPr>
        <p:blipFill rotWithShape="1">
          <a:blip r:embed="rId8">
            <a:alphaModFix/>
          </a:blip>
          <a:srcRect b="10610" l="6143" r="8408" t="2847"/>
          <a:stretch/>
        </p:blipFill>
        <p:spPr>
          <a:xfrm>
            <a:off x="1412650" y="-452912"/>
            <a:ext cx="2500775" cy="250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23"/>
          <p:cNvCxnSpPr>
            <a:stCxn id="178" idx="2"/>
            <a:endCxn id="180" idx="0"/>
          </p:cNvCxnSpPr>
          <p:nvPr/>
        </p:nvCxnSpPr>
        <p:spPr>
          <a:xfrm>
            <a:off x="7724650" y="-1349791"/>
            <a:ext cx="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3"/>
          <p:cNvCxnSpPr/>
          <p:nvPr/>
        </p:nvCxnSpPr>
        <p:spPr>
          <a:xfrm rot="10800000">
            <a:off x="4286200" y="1336737"/>
            <a:ext cx="288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p23"/>
          <p:cNvSpPr txBox="1"/>
          <p:nvPr/>
        </p:nvSpPr>
        <p:spPr>
          <a:xfrm>
            <a:off x="1612557" y="-1246037"/>
            <a:ext cx="305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Validates, merges, georeferences images</a:t>
            </a:r>
            <a:endParaRPr sz="900"/>
          </a:p>
        </p:txBody>
      </p:sp>
      <p:sp>
        <p:nvSpPr>
          <p:cNvPr id="188" name="Google Shape;188;p23"/>
          <p:cNvSpPr txBox="1"/>
          <p:nvPr/>
        </p:nvSpPr>
        <p:spPr>
          <a:xfrm>
            <a:off x="1412650" y="-2534700"/>
            <a:ext cx="7491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Stitching Module</a:t>
            </a:r>
            <a:endParaRPr sz="700"/>
          </a:p>
        </p:txBody>
      </p:sp>
      <p:grpSp>
        <p:nvGrpSpPr>
          <p:cNvPr id="189" name="Google Shape;189;p23"/>
          <p:cNvGrpSpPr/>
          <p:nvPr/>
        </p:nvGrpSpPr>
        <p:grpSpPr>
          <a:xfrm>
            <a:off x="7231225" y="848325"/>
            <a:ext cx="850632" cy="1087673"/>
            <a:chOff x="6303350" y="3673025"/>
            <a:chExt cx="850632" cy="1087673"/>
          </a:xfrm>
        </p:grpSpPr>
        <p:pic>
          <p:nvPicPr>
            <p:cNvPr descr="Paper sheet line icon. Document vector illustration isolated on white. List outline style design, designed for web and app. Eps 10. (Provided by Getty Images)" id="190" name="Google Shape;190;p2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303350" y="3673025"/>
              <a:ext cx="831048" cy="8310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23"/>
            <p:cNvSpPr txBox="1"/>
            <p:nvPr/>
          </p:nvSpPr>
          <p:spPr>
            <a:xfrm>
              <a:off x="6374275" y="3728625"/>
              <a:ext cx="737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.geojson</a:t>
              </a:r>
              <a:endParaRPr sz="1000">
                <a:solidFill>
                  <a:schemeClr val="dk2"/>
                </a:solidFill>
              </a:endParaRPr>
            </a:p>
          </p:txBody>
        </p:sp>
        <p:pic>
          <p:nvPicPr>
            <p:cNvPr descr="Education, geography, globe black icon (Provided by Getty Images)" id="192" name="Google Shape;192;p23"/>
            <p:cNvPicPr preferRelativeResize="0"/>
            <p:nvPr/>
          </p:nvPicPr>
          <p:blipFill rotWithShape="1">
            <a:blip r:embed="rId10">
              <a:alphaModFix/>
            </a:blip>
            <a:srcRect b="0" l="22568" r="22020" t="11166"/>
            <a:stretch/>
          </p:blipFill>
          <p:spPr>
            <a:xfrm>
              <a:off x="6796775" y="4188000"/>
              <a:ext cx="357207" cy="5726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3" name="Google Shape;193;p23"/>
          <p:cNvSpPr txBox="1"/>
          <p:nvPr/>
        </p:nvSpPr>
        <p:spPr>
          <a:xfrm>
            <a:off x="5177500" y="-2782900"/>
            <a:ext cx="147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94" name="Google Shape;194;p23"/>
          <p:cNvSpPr txBox="1"/>
          <p:nvPr/>
        </p:nvSpPr>
        <p:spPr>
          <a:xfrm>
            <a:off x="5569150" y="-2665250"/>
            <a:ext cx="948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Prescription Module</a:t>
            </a:r>
            <a:endParaRPr sz="700"/>
          </a:p>
        </p:txBody>
      </p:sp>
      <p:sp>
        <p:nvSpPr>
          <p:cNvPr id="195" name="Google Shape;195;p23"/>
          <p:cNvSpPr txBox="1"/>
          <p:nvPr/>
        </p:nvSpPr>
        <p:spPr>
          <a:xfrm>
            <a:off x="5569150" y="338650"/>
            <a:ext cx="2155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Computes NDVI/NDRE metrics via FIELDimageR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8289505" y="-1435775"/>
            <a:ext cx="79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900">
                <a:solidFill>
                  <a:schemeClr val="dk1"/>
                </a:solidFill>
              </a:rPr>
              <a:t>NDVI</a:t>
            </a:r>
            <a:endParaRPr i="1" sz="600"/>
          </a:p>
        </p:txBody>
      </p:sp>
      <p:sp>
        <p:nvSpPr>
          <p:cNvPr id="197" name="Google Shape;197;p23"/>
          <p:cNvSpPr txBox="1"/>
          <p:nvPr/>
        </p:nvSpPr>
        <p:spPr>
          <a:xfrm>
            <a:off x="7817350" y="247050"/>
            <a:ext cx="122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900">
                <a:solidFill>
                  <a:schemeClr val="dk1"/>
                </a:solidFill>
              </a:rPr>
              <a:t>HDBScan clustering</a:t>
            </a:r>
            <a:endParaRPr i="1" sz="600">
              <a:solidFill>
                <a:schemeClr val="dk1"/>
              </a:solidFill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3907738" y="400425"/>
            <a:ext cx="15687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Generates coverage-efficient waypoints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4270113" y="-442462"/>
            <a:ext cx="109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Path Module</a:t>
            </a:r>
            <a:endParaRPr sz="700"/>
          </a:p>
        </p:txBody>
      </p:sp>
      <p:pic>
        <p:nvPicPr>
          <p:cNvPr descr="Cricket icon vector. Isolated contour symbol illustration (Provided by Getty Images)" id="200" name="Google Shape;200;p23"/>
          <p:cNvPicPr preferRelativeResize="0"/>
          <p:nvPr/>
        </p:nvPicPr>
        <p:blipFill rotWithShape="1">
          <a:blip r:embed="rId11">
            <a:alphaModFix/>
          </a:blip>
          <a:srcRect b="19408" l="10509" r="11875" t="18995"/>
          <a:stretch/>
        </p:blipFill>
        <p:spPr>
          <a:xfrm>
            <a:off x="290025" y="539625"/>
            <a:ext cx="649887" cy="5157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23"/>
          <p:cNvCxnSpPr>
            <a:stCxn id="184" idx="1"/>
            <a:endCxn id="200" idx="3"/>
          </p:cNvCxnSpPr>
          <p:nvPr/>
        </p:nvCxnSpPr>
        <p:spPr>
          <a:xfrm rot="10800000">
            <a:off x="939850" y="797475"/>
            <a:ext cx="4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3"/>
          <p:cNvCxnSpPr/>
          <p:nvPr/>
        </p:nvCxnSpPr>
        <p:spPr>
          <a:xfrm>
            <a:off x="654800" y="1055325"/>
            <a:ext cx="0" cy="15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23"/>
          <p:cNvSpPr/>
          <p:nvPr/>
        </p:nvSpPr>
        <p:spPr>
          <a:xfrm>
            <a:off x="168625" y="2659525"/>
            <a:ext cx="4054200" cy="234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2640978" y="2659525"/>
            <a:ext cx="135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Reporting Module</a:t>
            </a:r>
            <a:endParaRPr sz="700"/>
          </a:p>
        </p:txBody>
      </p:sp>
      <p:pic>
        <p:nvPicPr>
          <p:cNvPr descr="Paper sheet line icon. Document vector illustration isolated on white. List outline style design, designed for web and app. Eps 10. (Provided by Getty Images)" id="205" name="Google Shape;205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31725" y="3058525"/>
            <a:ext cx="1094098" cy="1094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rawing house plan icon vector outline illustration (Provided by Getty Images)" id="206" name="Google Shape;206;p2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763525" y="2214175"/>
            <a:ext cx="2803999" cy="2803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23"/>
          <p:cNvCxnSpPr>
            <a:stCxn id="205" idx="3"/>
            <a:endCxn id="206" idx="1"/>
          </p:cNvCxnSpPr>
          <p:nvPr/>
        </p:nvCxnSpPr>
        <p:spPr>
          <a:xfrm>
            <a:off x="3825823" y="3605574"/>
            <a:ext cx="19377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Robot icon vector. Isolated contour symbol illustration (Provided by Getty Images)" id="208" name="Google Shape;208;p2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36450" y="2771075"/>
            <a:ext cx="1479598" cy="147959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6657101" y="4305025"/>
            <a:ext cx="135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000">
                <a:solidFill>
                  <a:schemeClr val="dk1"/>
                </a:solidFill>
              </a:rPr>
              <a:t>Displayed to user</a:t>
            </a:r>
            <a:endParaRPr i="1" sz="1000">
              <a:solidFill>
                <a:schemeClr val="dk1"/>
              </a:solidFill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2819321" y="4128025"/>
            <a:ext cx="1094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Summary &amp; performance analytics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211" name="Google Shape;211;p23"/>
          <p:cNvCxnSpPr>
            <a:endCxn id="205" idx="1"/>
          </p:cNvCxnSpPr>
          <p:nvPr/>
        </p:nvCxnSpPr>
        <p:spPr>
          <a:xfrm>
            <a:off x="1438725" y="3605574"/>
            <a:ext cx="129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p23"/>
          <p:cNvSpPr txBox="1"/>
          <p:nvPr/>
        </p:nvSpPr>
        <p:spPr>
          <a:xfrm>
            <a:off x="436451" y="3914075"/>
            <a:ext cx="147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Dosage applied, timestamps, GPS logging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13" name="Google Shape;21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311700" y="168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3 Achievements</a:t>
            </a:r>
            <a:endParaRPr/>
          </a:p>
        </p:txBody>
      </p:sp>
      <p:sp>
        <p:nvSpPr>
          <p:cNvPr id="219" name="Google Shape;219;p24"/>
          <p:cNvSpPr txBox="1"/>
          <p:nvPr>
            <p:ph idx="1" type="body"/>
          </p:nvPr>
        </p:nvSpPr>
        <p:spPr>
          <a:xfrm>
            <a:off x="311700" y="781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Goals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Revise field map </a:t>
            </a:r>
            <a:r>
              <a:rPr lang="en" sz="1700">
                <a:solidFill>
                  <a:schemeClr val="dk1"/>
                </a:solidFill>
              </a:rPr>
              <a:t>generation</a:t>
            </a:r>
            <a:r>
              <a:rPr lang="en" sz="1700">
                <a:solidFill>
                  <a:schemeClr val="dk1"/>
                </a:solidFill>
              </a:rPr>
              <a:t> and output in an acceptable format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Update frontend for better visualization of field map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Develop path planning and output a visualization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Create proper path output for Amiga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Allow user to specify prescription amounts based on NDVI clusters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20" name="Google Shape;22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type="title"/>
          </p:nvPr>
        </p:nvSpPr>
        <p:spPr>
          <a:xfrm>
            <a:off x="311700" y="168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3 Achievements</a:t>
            </a:r>
            <a:endParaRPr/>
          </a:p>
        </p:txBody>
      </p:sp>
      <p:sp>
        <p:nvSpPr>
          <p:cNvPr id="226" name="Google Shape;226;p25"/>
          <p:cNvSpPr txBox="1"/>
          <p:nvPr>
            <p:ph idx="1" type="body"/>
          </p:nvPr>
        </p:nvSpPr>
        <p:spPr>
          <a:xfrm>
            <a:off x="311700" y="781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Completed Work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Path planning prototype and visualization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NDVI calculated and clustered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UI for viewing computed field maps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Colored cluster ready for spray assignment implementation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Robot path output prototype 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Input geojson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Output file of poses read by robot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27" name="Google Shape;22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/>
          <p:nvPr>
            <p:ph type="title"/>
          </p:nvPr>
        </p:nvSpPr>
        <p:spPr>
          <a:xfrm>
            <a:off x="311700" y="168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3 Achievements</a:t>
            </a:r>
            <a:endParaRPr/>
          </a:p>
        </p:txBody>
      </p:sp>
      <p:sp>
        <p:nvSpPr>
          <p:cNvPr id="233" name="Google Shape;233;p26"/>
          <p:cNvSpPr txBox="1"/>
          <p:nvPr>
            <p:ph idx="1" type="body"/>
          </p:nvPr>
        </p:nvSpPr>
        <p:spPr>
          <a:xfrm>
            <a:off x="311700" y="781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Needs implementation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Need to integrate full pipeline of field map and pathing (currently manual)</a:t>
            </a:r>
            <a:endParaRPr sz="17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After NodeODM ortho is processed, trigger field map generation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When geojson is output, create path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Relatively straightforward implementation</a:t>
            </a:r>
            <a:endParaRPr sz="15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User input for spray values</a:t>
            </a:r>
            <a:endParaRPr sz="17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High, low, no spray values </a:t>
            </a:r>
            <a:r>
              <a:rPr lang="en" sz="1500">
                <a:solidFill>
                  <a:schemeClr val="dk1"/>
                </a:solidFill>
              </a:rPr>
              <a:t>assigned to clusters</a:t>
            </a:r>
            <a:endParaRPr sz="15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Format for outputting prescription</a:t>
            </a:r>
            <a:endParaRPr sz="17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Talk with hardware team</a:t>
            </a:r>
            <a:endParaRPr sz="15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File streaming for image upload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34" name="Google Shape;23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type="title"/>
          </p:nvPr>
        </p:nvSpPr>
        <p:spPr>
          <a:xfrm>
            <a:off x="311700" y="168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3 Achievements</a:t>
            </a:r>
            <a:endParaRPr/>
          </a:p>
        </p:txBody>
      </p:sp>
      <p:sp>
        <p:nvSpPr>
          <p:cNvPr id="240" name="Google Shape;240;p27"/>
          <p:cNvSpPr txBox="1"/>
          <p:nvPr>
            <p:ph idx="1" type="body"/>
          </p:nvPr>
        </p:nvSpPr>
        <p:spPr>
          <a:xfrm>
            <a:off x="311700" y="781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Challenges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Two software developers on this project is proving very difficult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Large uploads to API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Fully understanding Amiga’s needs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Getting correct processing settings for NodeODM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Displaying complex data to the user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41" name="Google Shape;24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>
            <p:ph type="title"/>
          </p:nvPr>
        </p:nvSpPr>
        <p:spPr>
          <a:xfrm>
            <a:off x="311700" y="168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3 Achievements</a:t>
            </a:r>
            <a:endParaRPr/>
          </a:p>
        </p:txBody>
      </p:sp>
      <p:sp>
        <p:nvSpPr>
          <p:cNvPr id="247" name="Google Shape;247;p28"/>
          <p:cNvSpPr txBox="1"/>
          <p:nvPr>
            <p:ph idx="1" type="body"/>
          </p:nvPr>
        </p:nvSpPr>
        <p:spPr>
          <a:xfrm>
            <a:off x="311700" y="781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How we addressed challenges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Communication with client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Trial and error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Deep research past what was initially done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Studying examples and reproducing them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Whats next?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Integrate into full pipeline!</a:t>
            </a:r>
            <a:endParaRPr sz="17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We have all the pieces, just need to connect and tweak them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48" name="Google Shape;24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Demonstration Summary (Demo)</a:t>
            </a:r>
            <a:endParaRPr/>
          </a:p>
        </p:txBody>
      </p:sp>
      <p:sp>
        <p:nvSpPr>
          <p:cNvPr id="254" name="Google Shape;254;p2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Implemented Features (≥60%):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Drone image upload interface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Local image stitching via NodeODM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Field map + NDVI processing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Basic prescription generation and clustering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Preliminary path planning algorithm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Upload of data packets to robot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UI for visualization, queue monitoring, status polling</a:t>
            </a:r>
            <a:br>
              <a:rPr lang="en" sz="1700">
                <a:solidFill>
                  <a:schemeClr val="dk1"/>
                </a:solidFill>
              </a:rPr>
            </a:br>
            <a:br>
              <a:rPr b="1" lang="en" sz="1700">
                <a:solidFill>
                  <a:schemeClr val="dk1"/>
                </a:solidFill>
              </a:rPr>
            </a:b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55" name="Google Shape;255;p29"/>
          <p:cNvSpPr txBox="1"/>
          <p:nvPr>
            <p:ph idx="1" type="body"/>
          </p:nvPr>
        </p:nvSpPr>
        <p:spPr>
          <a:xfrm>
            <a:off x="4883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Demonstration Outputs: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Stitched orthophoto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Prescription dosage map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Generated coverage path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Logs and basic reports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cxnSp>
        <p:nvCxnSpPr>
          <p:cNvPr id="256" name="Google Shape;256;p29"/>
          <p:cNvCxnSpPr/>
          <p:nvPr/>
        </p:nvCxnSpPr>
        <p:spPr>
          <a:xfrm>
            <a:off x="4693775" y="1245325"/>
            <a:ext cx="0" cy="32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Strategy &amp; Methodology</a:t>
            </a:r>
            <a:endParaRPr/>
          </a:p>
        </p:txBody>
      </p:sp>
      <p:sp>
        <p:nvSpPr>
          <p:cNvPr id="263" name="Google Shape;263;p3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Unit Testing: </a:t>
            </a:r>
            <a:r>
              <a:rPr lang="en" sz="1600">
                <a:solidFill>
                  <a:schemeClr val="dk1"/>
                </a:solidFill>
              </a:rPr>
              <a:t>Image validation, pathfinding logic, UI rendering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Integration Testing: </a:t>
            </a:r>
            <a:r>
              <a:rPr lang="en" sz="1600">
                <a:solidFill>
                  <a:schemeClr val="dk1"/>
                </a:solidFill>
              </a:rPr>
              <a:t>Upload → Stitch → Prescription → Path → Robot workflow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System Testing: </a:t>
            </a:r>
            <a:r>
              <a:rPr lang="en" sz="1600">
                <a:solidFill>
                  <a:schemeClr val="dk1"/>
                </a:solidFill>
              </a:rPr>
              <a:t>End-to-end trial with robot hardware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Performance Testing:</a:t>
            </a:r>
            <a:r>
              <a:rPr lang="en" sz="1600">
                <a:solidFill>
                  <a:schemeClr val="dk1"/>
                </a:solidFill>
              </a:rPr>
              <a:t>Timing benchmarks for stitching, path generation, loading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264" name="Google Shape;264;p30"/>
          <p:cNvSpPr txBox="1"/>
          <p:nvPr/>
        </p:nvSpPr>
        <p:spPr>
          <a:xfrm>
            <a:off x="4765450" y="1119325"/>
            <a:ext cx="4197000" cy="3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Standards/Constraints Verification: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IEEE 830 structure, IEEE 12207 lifecycle, WCAG 2.2 UI accessibility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Offline operation, hardware compliance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User Acceptance Testing: </a:t>
            </a:r>
            <a:r>
              <a:rPr lang="en" sz="1600">
                <a:solidFill>
                  <a:schemeClr val="dk1"/>
                </a:solidFill>
              </a:rPr>
              <a:t>With Andrew Nelson and robotics challenge evaluators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65" name="Google Shape;26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/>
          <p:nvPr/>
        </p:nvSpPr>
        <p:spPr>
          <a:xfrm>
            <a:off x="5253500" y="3945019"/>
            <a:ext cx="3299700" cy="103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875" lIns="84875" spcFirstLastPara="1" rIns="84875" wrap="square" tIns="84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271" name="Google Shape;271;p31"/>
          <p:cNvSpPr/>
          <p:nvPr/>
        </p:nvSpPr>
        <p:spPr>
          <a:xfrm>
            <a:off x="5253500" y="2794488"/>
            <a:ext cx="3299700" cy="103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875" lIns="84875" spcFirstLastPara="1" rIns="84875" wrap="square" tIns="84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272" name="Google Shape;272;p31"/>
          <p:cNvSpPr/>
          <p:nvPr/>
        </p:nvSpPr>
        <p:spPr>
          <a:xfrm>
            <a:off x="5253500" y="1643956"/>
            <a:ext cx="3299700" cy="103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875" lIns="84875" spcFirstLastPara="1" rIns="84875" wrap="square" tIns="84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273" name="Google Shape;273;p31"/>
          <p:cNvSpPr/>
          <p:nvPr/>
        </p:nvSpPr>
        <p:spPr>
          <a:xfrm>
            <a:off x="5253500" y="493425"/>
            <a:ext cx="3299700" cy="103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875" lIns="84875" spcFirstLastPara="1" rIns="84875" wrap="square" tIns="84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274" name="Google Shape;274;p31"/>
          <p:cNvSpPr txBox="1"/>
          <p:nvPr>
            <p:ph type="title"/>
          </p:nvPr>
        </p:nvSpPr>
        <p:spPr>
          <a:xfrm>
            <a:off x="311700" y="445025"/>
            <a:ext cx="446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Semester Plan</a:t>
            </a:r>
            <a:endParaRPr/>
          </a:p>
        </p:txBody>
      </p:sp>
      <p:sp>
        <p:nvSpPr>
          <p:cNvPr id="275" name="Google Shape;275;p31"/>
          <p:cNvSpPr txBox="1"/>
          <p:nvPr>
            <p:ph idx="1" type="body"/>
          </p:nvPr>
        </p:nvSpPr>
        <p:spPr>
          <a:xfrm>
            <a:off x="311700" y="1017725"/>
            <a:ext cx="4260300" cy="4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Planned Functional Work:</a:t>
            </a:r>
            <a:endParaRPr b="1"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Refine prescription map accuracy with improved clustering + RL optimization</a:t>
            </a:r>
            <a:endParaRPr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Integrate real-time robot telemetry feedback</a:t>
            </a:r>
            <a:endParaRPr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Enhance obstacle avoidance and terrain handling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Complete manual override and safety controls</a:t>
            </a:r>
            <a:endParaRPr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Finalize visual path preview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Non-Functional Work:</a:t>
            </a:r>
            <a:endParaRPr b="1"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Optimize large-dataset performance (disk I/O + GPU load)</a:t>
            </a:r>
            <a:endParaRPr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Improve caching + incremental stitching</a:t>
            </a:r>
            <a:endParaRPr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Strengthen reporting automation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76" name="Google Shape;276;p31"/>
          <p:cNvSpPr/>
          <p:nvPr/>
        </p:nvSpPr>
        <p:spPr>
          <a:xfrm>
            <a:off x="5747150" y="657525"/>
            <a:ext cx="149100" cy="4234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1"/>
          <p:cNvSpPr/>
          <p:nvPr/>
        </p:nvSpPr>
        <p:spPr>
          <a:xfrm>
            <a:off x="5371995" y="569265"/>
            <a:ext cx="899400" cy="899400"/>
          </a:xfrm>
          <a:prstGeom prst="ellipse">
            <a:avLst/>
          </a:prstGeom>
          <a:solidFill>
            <a:schemeClr val="accent5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875" lIns="84875" spcFirstLastPara="1" rIns="84875" wrap="square" tIns="84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278" name="Google Shape;278;p31"/>
          <p:cNvSpPr txBox="1"/>
          <p:nvPr/>
        </p:nvSpPr>
        <p:spPr>
          <a:xfrm>
            <a:off x="5417550" y="657521"/>
            <a:ext cx="9480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75" lIns="84875" spcFirstLastPara="1" rIns="84875" wrap="square" tIns="84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70">
                <a:solidFill>
                  <a:schemeClr val="dk2"/>
                </a:solidFill>
              </a:rPr>
              <a:t>weeks</a:t>
            </a:r>
            <a:endParaRPr b="1" sz="1670">
              <a:solidFill>
                <a:schemeClr val="dk2"/>
              </a:solidFill>
            </a:endParaRPr>
          </a:p>
        </p:txBody>
      </p:sp>
      <p:sp>
        <p:nvSpPr>
          <p:cNvPr id="279" name="Google Shape;279;p31"/>
          <p:cNvSpPr txBox="1"/>
          <p:nvPr/>
        </p:nvSpPr>
        <p:spPr>
          <a:xfrm>
            <a:off x="5417550" y="891564"/>
            <a:ext cx="9480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75" lIns="84875" spcFirstLastPara="1" rIns="84875" wrap="square" tIns="84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7">
                <a:solidFill>
                  <a:schemeClr val="dk2"/>
                </a:solidFill>
              </a:rPr>
              <a:t>1 - 3</a:t>
            </a:r>
            <a:endParaRPr sz="2227">
              <a:solidFill>
                <a:schemeClr val="dk2"/>
              </a:solidFill>
            </a:endParaRPr>
          </a:p>
        </p:txBody>
      </p:sp>
      <p:sp>
        <p:nvSpPr>
          <p:cNvPr id="280" name="Google Shape;280;p31"/>
          <p:cNvSpPr/>
          <p:nvPr/>
        </p:nvSpPr>
        <p:spPr>
          <a:xfrm>
            <a:off x="5371995" y="1719797"/>
            <a:ext cx="899400" cy="899400"/>
          </a:xfrm>
          <a:prstGeom prst="ellipse">
            <a:avLst/>
          </a:prstGeom>
          <a:solidFill>
            <a:schemeClr val="accent5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875" lIns="84875" spcFirstLastPara="1" rIns="84875" wrap="square" tIns="84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281" name="Google Shape;281;p31"/>
          <p:cNvSpPr txBox="1"/>
          <p:nvPr/>
        </p:nvSpPr>
        <p:spPr>
          <a:xfrm>
            <a:off x="5417550" y="1808053"/>
            <a:ext cx="9480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75" lIns="84875" spcFirstLastPara="1" rIns="84875" wrap="square" tIns="84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70">
                <a:solidFill>
                  <a:schemeClr val="dk2"/>
                </a:solidFill>
              </a:rPr>
              <a:t>weeks</a:t>
            </a:r>
            <a:endParaRPr b="1" sz="1670">
              <a:solidFill>
                <a:schemeClr val="dk2"/>
              </a:solidFill>
            </a:endParaRPr>
          </a:p>
        </p:txBody>
      </p:sp>
      <p:sp>
        <p:nvSpPr>
          <p:cNvPr id="282" name="Google Shape;282;p31"/>
          <p:cNvSpPr txBox="1"/>
          <p:nvPr/>
        </p:nvSpPr>
        <p:spPr>
          <a:xfrm>
            <a:off x="5417550" y="2042095"/>
            <a:ext cx="9480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75" lIns="84875" spcFirstLastPara="1" rIns="84875" wrap="square" tIns="84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7">
                <a:solidFill>
                  <a:schemeClr val="dk2"/>
                </a:solidFill>
              </a:rPr>
              <a:t>4 - 6</a:t>
            </a:r>
            <a:endParaRPr sz="2227">
              <a:solidFill>
                <a:schemeClr val="dk2"/>
              </a:solidFill>
            </a:endParaRPr>
          </a:p>
        </p:txBody>
      </p:sp>
      <p:sp>
        <p:nvSpPr>
          <p:cNvPr id="283" name="Google Shape;283;p31"/>
          <p:cNvSpPr/>
          <p:nvPr/>
        </p:nvSpPr>
        <p:spPr>
          <a:xfrm>
            <a:off x="5371995" y="2870328"/>
            <a:ext cx="899400" cy="899400"/>
          </a:xfrm>
          <a:prstGeom prst="ellipse">
            <a:avLst/>
          </a:prstGeom>
          <a:solidFill>
            <a:schemeClr val="accent5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875" lIns="84875" spcFirstLastPara="1" rIns="84875" wrap="square" tIns="84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284" name="Google Shape;284;p31"/>
          <p:cNvSpPr txBox="1"/>
          <p:nvPr/>
        </p:nvSpPr>
        <p:spPr>
          <a:xfrm>
            <a:off x="5417550" y="2958584"/>
            <a:ext cx="9480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75" lIns="84875" spcFirstLastPara="1" rIns="84875" wrap="square" tIns="84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70">
                <a:solidFill>
                  <a:schemeClr val="dk2"/>
                </a:solidFill>
              </a:rPr>
              <a:t>weeks</a:t>
            </a:r>
            <a:endParaRPr b="1" sz="1670">
              <a:solidFill>
                <a:schemeClr val="dk2"/>
              </a:solidFill>
            </a:endParaRPr>
          </a:p>
        </p:txBody>
      </p:sp>
      <p:sp>
        <p:nvSpPr>
          <p:cNvPr id="285" name="Google Shape;285;p31"/>
          <p:cNvSpPr txBox="1"/>
          <p:nvPr/>
        </p:nvSpPr>
        <p:spPr>
          <a:xfrm>
            <a:off x="5417550" y="3192627"/>
            <a:ext cx="9480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75" lIns="84875" spcFirstLastPara="1" rIns="84875" wrap="square" tIns="84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7">
                <a:solidFill>
                  <a:schemeClr val="dk2"/>
                </a:solidFill>
              </a:rPr>
              <a:t>7 - 9</a:t>
            </a:r>
            <a:endParaRPr sz="2227">
              <a:solidFill>
                <a:schemeClr val="dk2"/>
              </a:solidFill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5371995" y="4020860"/>
            <a:ext cx="899400" cy="899400"/>
          </a:xfrm>
          <a:prstGeom prst="ellipse">
            <a:avLst/>
          </a:prstGeom>
          <a:solidFill>
            <a:schemeClr val="accent5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875" lIns="84875" spcFirstLastPara="1" rIns="84875" wrap="square" tIns="84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287" name="Google Shape;287;p31"/>
          <p:cNvSpPr txBox="1"/>
          <p:nvPr/>
        </p:nvSpPr>
        <p:spPr>
          <a:xfrm>
            <a:off x="5481369" y="4109116"/>
            <a:ext cx="9480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75" lIns="84875" spcFirstLastPara="1" rIns="84875" wrap="square" tIns="84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70">
                <a:solidFill>
                  <a:schemeClr val="dk2"/>
                </a:solidFill>
              </a:rPr>
              <a:t>week</a:t>
            </a:r>
            <a:endParaRPr b="1" sz="1670">
              <a:solidFill>
                <a:schemeClr val="dk2"/>
              </a:solidFill>
            </a:endParaRPr>
          </a:p>
        </p:txBody>
      </p:sp>
      <p:sp>
        <p:nvSpPr>
          <p:cNvPr id="288" name="Google Shape;288;p31"/>
          <p:cNvSpPr txBox="1"/>
          <p:nvPr/>
        </p:nvSpPr>
        <p:spPr>
          <a:xfrm>
            <a:off x="5572503" y="4343158"/>
            <a:ext cx="9480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75" lIns="84875" spcFirstLastPara="1" rIns="84875" wrap="square" tIns="84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7">
                <a:solidFill>
                  <a:schemeClr val="dk2"/>
                </a:solidFill>
              </a:rPr>
              <a:t>10</a:t>
            </a:r>
            <a:endParaRPr sz="2227">
              <a:solidFill>
                <a:schemeClr val="dk2"/>
              </a:solidFill>
            </a:endParaRPr>
          </a:p>
        </p:txBody>
      </p:sp>
      <p:sp>
        <p:nvSpPr>
          <p:cNvPr id="289" name="Google Shape;289;p31"/>
          <p:cNvSpPr txBox="1"/>
          <p:nvPr/>
        </p:nvSpPr>
        <p:spPr>
          <a:xfrm>
            <a:off x="6429326" y="708786"/>
            <a:ext cx="19509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75" lIns="84875" spcFirstLastPara="1" rIns="84875" wrap="square" tIns="84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0"/>
              </a:spcAft>
              <a:buNone/>
            </a:pPr>
            <a:r>
              <a:rPr lang="en" sz="1392">
                <a:solidFill>
                  <a:schemeClr val="dk1"/>
                </a:solidFill>
              </a:rPr>
              <a:t>Prescription ML refinement + UI polish</a:t>
            </a:r>
            <a:endParaRPr sz="139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14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chemeClr val="dk2"/>
              </a:solidFill>
            </a:endParaRPr>
          </a:p>
        </p:txBody>
      </p:sp>
      <p:sp>
        <p:nvSpPr>
          <p:cNvPr id="290" name="Google Shape;290;p31"/>
          <p:cNvSpPr txBox="1"/>
          <p:nvPr/>
        </p:nvSpPr>
        <p:spPr>
          <a:xfrm>
            <a:off x="6429326" y="1847389"/>
            <a:ext cx="20325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75" lIns="84875" spcFirstLastPara="1" rIns="84875" wrap="square" tIns="848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1114"/>
              </a:spcAft>
              <a:buNone/>
            </a:pPr>
            <a:r>
              <a:rPr lang="en" sz="1392">
                <a:solidFill>
                  <a:schemeClr val="dk1"/>
                </a:solidFill>
              </a:rPr>
              <a:t>Robot integration + safety testing</a:t>
            </a:r>
            <a:endParaRPr sz="1485"/>
          </a:p>
        </p:txBody>
      </p:sp>
      <p:sp>
        <p:nvSpPr>
          <p:cNvPr id="291" name="Google Shape;291;p31"/>
          <p:cNvSpPr txBox="1"/>
          <p:nvPr/>
        </p:nvSpPr>
        <p:spPr>
          <a:xfrm>
            <a:off x="6429326" y="2997920"/>
            <a:ext cx="1950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75" lIns="84875" spcFirstLastPara="1" rIns="84875" wrap="square" tIns="848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1114"/>
              </a:spcAft>
              <a:buNone/>
            </a:pPr>
            <a:r>
              <a:rPr lang="en" sz="1392">
                <a:solidFill>
                  <a:schemeClr val="dk1"/>
                </a:solidFill>
              </a:rPr>
              <a:t>Stress testing + multi-acre field trials</a:t>
            </a:r>
            <a:endParaRPr sz="1392"/>
          </a:p>
        </p:txBody>
      </p:sp>
      <p:sp>
        <p:nvSpPr>
          <p:cNvPr id="292" name="Google Shape;292;p31"/>
          <p:cNvSpPr txBox="1"/>
          <p:nvPr/>
        </p:nvSpPr>
        <p:spPr>
          <a:xfrm>
            <a:off x="6429326" y="4154532"/>
            <a:ext cx="21087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75" lIns="84875" spcFirstLastPara="1" rIns="84875" wrap="square" tIns="848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1114"/>
              </a:spcAft>
              <a:buNone/>
            </a:pPr>
            <a:r>
              <a:rPr lang="en" sz="1392">
                <a:solidFill>
                  <a:schemeClr val="dk1"/>
                </a:solidFill>
              </a:rPr>
              <a:t>Final documentation + challenge preparation</a:t>
            </a:r>
            <a:endParaRPr sz="1392"/>
          </a:p>
        </p:txBody>
      </p:sp>
      <p:cxnSp>
        <p:nvCxnSpPr>
          <p:cNvPr id="293" name="Google Shape;293;p31"/>
          <p:cNvCxnSpPr/>
          <p:nvPr/>
        </p:nvCxnSpPr>
        <p:spPr>
          <a:xfrm>
            <a:off x="176750" y="2886950"/>
            <a:ext cx="45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31"/>
          <p:cNvSpPr txBox="1"/>
          <p:nvPr/>
        </p:nvSpPr>
        <p:spPr>
          <a:xfrm>
            <a:off x="6336500" y="88325"/>
            <a:ext cx="1133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Timeline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95" name="Google Shape;29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Use of AI</a:t>
            </a:r>
            <a:endParaRPr/>
          </a:p>
        </p:txBody>
      </p:sp>
      <p:sp>
        <p:nvSpPr>
          <p:cNvPr id="301" name="Google Shape;30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1700">
                <a:solidFill>
                  <a:schemeClr val="dk1"/>
                </a:solidFill>
              </a:rPr>
              <a:t>All AI generated material is 100% reviewed to ensure </a:t>
            </a:r>
            <a:r>
              <a:rPr lang="en" sz="1700">
                <a:solidFill>
                  <a:schemeClr val="dk1"/>
                </a:solidFill>
              </a:rPr>
              <a:t>reliability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Used as a tool, not a replacement for labor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No sensitive data is used in LLM prompts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Overall, great tool for</a:t>
            </a:r>
            <a:endParaRPr sz="17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Basic code generation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Refining writing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Proposing ideas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UI generation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Debugging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302" name="Google Shape;30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08" name="Google Shape;30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1700">
                <a:solidFill>
                  <a:schemeClr val="dk1"/>
                </a:solidFill>
              </a:rPr>
              <a:t>Successfully built an end-to-end prototype integrating drone imagery, ML prescription, and robot path planning (WIP)</a:t>
            </a:r>
            <a:endParaRPr sz="17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1700">
                <a:solidFill>
                  <a:schemeClr val="dk1"/>
                </a:solidFill>
              </a:rPr>
              <a:t>Achieved key goals: offline operation, modular design, and reliable image-to-path workflow</a:t>
            </a:r>
            <a:endParaRPr sz="17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1700">
                <a:solidFill>
                  <a:schemeClr val="dk1"/>
                </a:solidFill>
              </a:rPr>
              <a:t>Lessons learned: data size issues, robot communication constraints, and impact of field variability</a:t>
            </a:r>
            <a:endParaRPr sz="17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1700">
                <a:solidFill>
                  <a:schemeClr val="dk1"/>
                </a:solidFill>
              </a:rPr>
              <a:t>Strong foundation for second-semester development and Farm Robotics Challenge deployment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309" name="Google Shape;30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315" name="Google Shape;31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We’re excited to continue </a:t>
            </a:r>
            <a:r>
              <a:rPr lang="en"/>
              <a:t>developing</a:t>
            </a:r>
            <a:r>
              <a:rPr lang="en"/>
              <a:t> this system next semester!</a:t>
            </a:r>
            <a:endParaRPr/>
          </a:p>
        </p:txBody>
      </p:sp>
      <p:pic>
        <p:nvPicPr>
          <p:cNvPr id="316" name="Google Shape;31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8100" y="2261725"/>
            <a:ext cx="1747800" cy="17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Visualization WIP</a:t>
            </a:r>
            <a:endParaRPr/>
          </a:p>
        </p:txBody>
      </p:sp>
      <p:sp>
        <p:nvSpPr>
          <p:cNvPr id="323" name="Google Shape;323;p35"/>
          <p:cNvSpPr txBox="1"/>
          <p:nvPr>
            <p:ph idx="1" type="body"/>
          </p:nvPr>
        </p:nvSpPr>
        <p:spPr>
          <a:xfrm>
            <a:off x="311700" y="1152475"/>
            <a:ext cx="376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 point (red) can be set anywhere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Needs improvements to turning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account for field headlands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format read by Amiga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 is to overlay with field map / image</a:t>
            </a:r>
            <a:endParaRPr/>
          </a:p>
        </p:txBody>
      </p:sp>
      <p:pic>
        <p:nvPicPr>
          <p:cNvPr id="324" name="Google Shape;32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8874" y="0"/>
            <a:ext cx="473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Output</a:t>
            </a:r>
            <a:endParaRPr/>
          </a:p>
        </p:txBody>
      </p:sp>
      <p:sp>
        <p:nvSpPr>
          <p:cNvPr id="331" name="Google Shape;33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Show example on VS code</a:t>
            </a:r>
            <a:endParaRPr/>
          </a:p>
        </p:txBody>
      </p:sp>
      <p:sp>
        <p:nvSpPr>
          <p:cNvPr id="332" name="Google Shape;33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